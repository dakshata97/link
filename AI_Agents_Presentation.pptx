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 Using AI Agents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Retail</c:v>
                  </c:pt>
                  <c:pt idx="3">
                    <c:v>Tech</c:v>
                  </c:pt>
                  <c:pt idx="4">
                    <c:v>Manufacturing</c:v>
                  </c:pt>
                  <c:pt idx="5">
                    <c:v>Education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62</c:v>
                </c:pt>
                <c:pt idx="2">
                  <c:v>71</c:v>
                </c:pt>
                <c:pt idx="3">
                  <c:v>91</c:v>
                </c:pt>
                <c:pt idx="4">
                  <c:v>54</c:v>
                </c:pt>
                <c:pt idx="5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(Billion USD)</c:v>
                </c:pt>
              </c:strCache>
            </c:strRef>
          </c:tx>
          <c:spPr>
            <a:solidFill>
              <a:srgbClr val="00E5FF"/>
            </a:solidFill>
            <a:ln w="38100" cap="flat">
              <a:solidFill>
                <a:srgbClr val="00E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  <c:pt idx="6">
                    <c:v>2027</c:v>
                  </c:pt>
                  <c:pt idx="7">
                    <c:v>2028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3.8</c:v>
                </c:pt>
                <c:pt idx="2">
                  <c:v>6.2</c:v>
                </c:pt>
                <c:pt idx="3">
                  <c:v>11.5</c:v>
                </c:pt>
                <c:pt idx="4">
                  <c:v>21</c:v>
                </c:pt>
                <c:pt idx="5">
                  <c:v>37.8</c:v>
                </c:pt>
                <c:pt idx="6">
                  <c:v>64.5</c:v>
                </c:pt>
                <c:pt idx="7">
                  <c:v>102.3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274320"/>
            <a:ext cx="3840480" cy="3840480"/>
          </a:xfrm>
          <a:prstGeom prst="ellipse">
            <a:avLst/>
          </a:prstGeom>
          <a:solidFill>
            <a:srgbClr val="1565C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52160" y="640080"/>
            <a:ext cx="2743200" cy="2743200"/>
          </a:xfrm>
          <a:prstGeom prst="ellipse">
            <a:avLst/>
          </a:prstGeom>
          <a:solidFill>
            <a:srgbClr val="00B4D8">
              <a:alpha val="2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315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Intelligent Automation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50292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think, learn, and act — explained simply.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3891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Autonomous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43891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237744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Intelligent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43891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00C896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4389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Fast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54864" cy="7772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23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896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423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23160"/>
            <a:ext cx="54864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231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2423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29000"/>
            <a:ext cx="54864" cy="7772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29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4114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4290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429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3429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Agents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DEFINITION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software program that can:
</a:t>
            </a:r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Perceive its environment
</a:t>
            </a:r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its own decisions
</a:t>
            </a:r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 actions to achieve a goal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5029200" cy="1371600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it like a Smart Employee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an employee receives tasks, thinks about the best approach, and completes work — an AI Agent does the same, but automatically.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560320" cy="2560320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554480"/>
            <a:ext cx="164592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Autonomous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Goal-Oriented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Intelligent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vs Regular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Regular AI (like ChatGPT)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✗  Answers one question at a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0116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✓  Plans &amp; executes multi-step tasks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023360" cy="475488"/>
          </a:xfrm>
          <a:prstGeom prst="rect">
            <a:avLst/>
          </a:prstGeom>
          <a:solidFill>
            <a:srgbClr val="152A4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420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✗  Waits for your next message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542032"/>
            <a:ext cx="402336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5420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✓  Acts on its own without prompting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✗  No memory between chats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72384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0723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✓  Remembers context across tasks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4023360" cy="475488"/>
          </a:xfrm>
          <a:prstGeom prst="rect">
            <a:avLst/>
          </a:prstGeom>
          <a:solidFill>
            <a:srgbClr val="152A4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✗  Can't use 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602736"/>
            <a:ext cx="402336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✓  Uses tools: web, email, code, APIs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4023360" cy="475488"/>
          </a:xfrm>
          <a:prstGeom prst="rect">
            <a:avLst/>
          </a:prstGeom>
          <a:solidFill>
            <a:srgbClr val="11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✗  You do the thinking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133088"/>
            <a:ext cx="4023360" cy="475488"/>
          </a:xfrm>
          <a:prstGeom prst="rect">
            <a:avLst/>
          </a:prstGeom>
          <a:solidFill>
            <a:srgbClr val="0D2A52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✓  It does the thinking FOR you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an AI Agent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737360" cy="173736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</a:rPr>
              <a:t>PERCEIVE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 data: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files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8920" y="1325880"/>
            <a:ext cx="1737360" cy="173736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63040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</a:rPr>
              <a:t>THINK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834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 to plan: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goal?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steps to take?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74920" y="1325880"/>
            <a:ext cx="1737360" cy="1737360"/>
          </a:xfrm>
          <a:prstGeom prst="ellipse">
            <a:avLst/>
          </a:prstGeom>
          <a:solidFill>
            <a:srgbClr val="00C896">
              <a:alpha val="18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1097280" cy="10972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C896"/>
                </a:solidFill>
              </a:rPr>
              <a:t>ACT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120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actions: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email, runs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searches web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60920" y="1325880"/>
            <a:ext cx="1737360" cy="1737360"/>
          </a:xfrm>
          <a:prstGeom prst="ellipse">
            <a:avLst/>
          </a:prstGeom>
          <a:solidFill>
            <a:srgbClr val="FFD166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463040"/>
            <a:ext cx="1097280" cy="10972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D166"/>
                </a:solidFill>
              </a:rPr>
              <a:t>REMEMBER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315200" y="3063240"/>
            <a:ext cx="1828800" cy="14630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406640" y="31546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results: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outcomes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286000" y="2057400"/>
            <a:ext cx="50292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0"/>
          <p:cNvSpPr/>
          <p:nvPr/>
        </p:nvSpPr>
        <p:spPr>
          <a:xfrm>
            <a:off x="2651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0" y="2057400"/>
            <a:ext cx="50292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2"/>
          <p:cNvSpPr/>
          <p:nvPr/>
        </p:nvSpPr>
        <p:spPr>
          <a:xfrm>
            <a:off x="4937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0" y="2057400"/>
            <a:ext cx="50292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4"/>
          <p:cNvSpPr/>
          <p:nvPr/>
        </p:nvSpPr>
        <p:spPr>
          <a:xfrm>
            <a:off x="7223760" y="1901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TYPES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Simple Reflex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current situation only. Like a thermostat — if hot, turn on AC.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371600"/>
            <a:ext cx="2743200" cy="36576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813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Model-Based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memory of past events. Tracks what happened to make better decisions.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72784" y="137160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72784" y="1371600"/>
            <a:ext cx="2743200" cy="36576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813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31152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Goal-Based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82512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towards a specific goal. Plans multiple steps to achieve the objective.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5468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6440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Utility-Based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option, not just any option. Maximizes a score or outcome.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64992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64992" y="3154680"/>
            <a:ext cx="2743200" cy="36576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26440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Learning Agent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74720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time. Gets smarter with every task it completes.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72784" y="31546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72784" y="3154680"/>
            <a:ext cx="2743200" cy="36576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26440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31152" y="3264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Multi-Agent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82512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working together as a team to solve complex problems.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COMPONENTS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an AI Agent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286000" cy="228600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8745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</a:rPr>
              <a:t>AGENT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37160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1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LLM Brain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" y="1792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Thinks &amp; reasons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310896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735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182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77240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Reads environment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132320" y="137160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5361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14447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Memory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635240" y="1792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Stores knowledge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132320" y="310896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27355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35240" y="31821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Tools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635240" y="3529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Takes actions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566160" y="4389120"/>
            <a:ext cx="1828800" cy="7772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55371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069080" y="44622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Planning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069080" y="4809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Breaks into steps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Are Used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81328"/>
            <a:ext cx="548640" cy="54864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179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Customer Support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02996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chatbots that resolve complaints, process refunds, and escalate complex issues automatically.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64992" y="1371600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481328"/>
            <a:ext cx="548640" cy="5486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179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96512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Coding Assistant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02996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Writes, debugs, and tests code automatically. Tools like GitHub Copilot are AI agents.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1371600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1481328"/>
            <a:ext cx="548640" cy="548640"/>
          </a:xfrm>
          <a:prstGeom prst="ellipse">
            <a:avLst/>
          </a:prstGeom>
          <a:solidFill>
            <a:srgbClr val="00C896">
              <a:alpha val="3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179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Finance &amp; Trading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82512" y="202996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market data in real-time and executes trades based on programmed strategies.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182112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6928" y="3291840"/>
            <a:ext cx="548640" cy="548640"/>
          </a:xfrm>
          <a:prstGeom prst="ellipse">
            <a:avLst/>
          </a:prstGeom>
          <a:solidFill>
            <a:srgbClr val="FF6B35">
              <a:alpha val="3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28416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Research Agent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" y="3840480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web, reads documents, and compiles research reports without human effort.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364992" y="3182112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0" y="3291840"/>
            <a:ext cx="548640" cy="548640"/>
          </a:xfrm>
          <a:prstGeom prst="ellipse">
            <a:avLst/>
          </a:prstGeom>
          <a:solidFill>
            <a:srgbClr val="FFD166">
              <a:alpha val="30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328416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96512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Travel Planning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74720" y="3840480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flights, hotels, and creates itineraries by talking to multiple services simultaneously.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72784" y="3182112"/>
            <a:ext cx="2743200" cy="162763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82512" y="3291840"/>
            <a:ext cx="548640" cy="548640"/>
          </a:xfrm>
          <a:prstGeom prst="ellipse">
            <a:avLst/>
          </a:prstGeom>
          <a:solidFill>
            <a:srgbClr val="0096C7">
              <a:alpha val="30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3328416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04304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82512" y="3840480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networks 24/7, detects threats, and automatically blocks suspicious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Adoption by Industry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Source: Gartner AI Adoption Report 2024–2025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TOOLS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Use Tools Like Humans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you use a calculator, email, or Google — AI Agents use tools to get things done.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1488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Web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Finds latest information online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78308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148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Code Executor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1480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Writes &amp; runs Python, JS code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1488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Database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408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Reads &amp; writes structured data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24612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0096C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118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APIs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8872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Connects to external services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91840" y="324612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61188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11480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Email / Chat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1148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Sends messages &amp; notifications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217920" y="3246120"/>
            <a:ext cx="2743200" cy="1261872"/>
          </a:xfrm>
          <a:prstGeom prst="rect">
            <a:avLst/>
          </a:prstGeom>
          <a:solidFill>
            <a:srgbClr val="152A4E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611880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File System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04088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Reads/writes files &amp;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EXAMPLES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AI Agents You Know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AutoGPT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Toran Bruce Richards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First popular autonomous agent. Sets goals and completes them step by step on its own.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54864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Devin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8013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Cognition 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The world's first AI software engineer. Can build entire apps from a single prompt.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87752"/>
            <a:ext cx="54864" cy="11155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79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Claude Agents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Anthropic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Multi-step reasoning, tool use, long-context planning for complex tasks.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58775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587752"/>
            <a:ext cx="54864" cy="11155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79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</a:rPr>
              <a:t>GPT Actions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OpenAI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Connects ChatGPT to apps like Gmail, Slack, and databases for automated workflows.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49624"/>
            <a:ext cx="54864" cy="111556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41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Copilot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Microsoft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AI agent inside Office 365. Drafts emails, creates slides, analyses Excel data.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849624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849624"/>
            <a:ext cx="54864" cy="11155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941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AgentGPT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0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Open Source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Browser-based agent that autonomously researches, writes, and delivers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96C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ADVANCED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Systems: Teamwork!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Agents collaborate — each specialising in one job, together solving complex problems.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737360"/>
            <a:ext cx="2103120" cy="210312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938528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0" y="33375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</a:rPr>
              <a:t>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</a:rPr>
              <a:t>AGENT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64592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Research Agent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39696" y="1933956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" y="320040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20040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Writing Agent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139696" y="34884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0" y="164592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32320" y="1645920"/>
            <a:ext cx="182880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Coder Agent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77456" y="1933956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1" name="Shape 18"/>
          <p:cNvSpPr/>
          <p:nvPr/>
        </p:nvSpPr>
        <p:spPr>
          <a:xfrm>
            <a:off x="7132320" y="3200400"/>
            <a:ext cx="1828800" cy="6858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0" y="320040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722376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Email Agent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77456" y="34884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Example: A 'marketing campaign' task → Manager delegates research to Research Agent, writing to Writing Agent, and delivery to Email Agent — all running in parallel!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BENEFITS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Agents Are Powerful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100x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9339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faster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Speed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 seconds what takes humans hours.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507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99.9%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91947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accuracy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2900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Accuracy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tired mistakes. Consistent, high-quality output.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32588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3990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∞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84555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scale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550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233172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can handle 1,000 tasks simultaneously.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</a:rPr>
              <a:t>60%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99339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cost cut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Cost Saving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0292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operational costs significantly over time.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9184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612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0507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6C7"/>
                </a:solidFill>
              </a:rPr>
              <a:t>24/7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91947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uptime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42900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Always On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42900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24/7/365. No breaks, no vacations, no sick days.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217920" y="3108960"/>
            <a:ext cx="2743200" cy="160020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4612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31152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↑↑↑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7845552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grows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355080" y="3794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Adaptability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55080" y="41148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new data and continuously improves.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⚠️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Hallucinations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sometimes make up incorrect information or take wrong actions confidently.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751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🔒 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97510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Risks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97510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tool access can be manipulated by bad actors (prompt injection attacks).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7860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💸 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5786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5786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LLM calls per task can be expensive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8211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🤖 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Over-Automation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1821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automation without oversight can lead to errors going unnoticed for too long.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8561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🧩 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7856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Lack of Common Sense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378561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lack human intuition and may fail at tasks requiring real-world understanding.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30352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3891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🛡️ 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389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Privacy Concerns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43891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access to personal data raise serious data privacy and compliance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MARKET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Market is Exploding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Projected to reach $102 Billion by 2028 — growing at 45% annually.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Source: MarketsandMarkets AI Agent Report 2024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BUILD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Simple AI Agent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35608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Define the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agent do? Be specific.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'Answer customer emails automatically.'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3560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Choose the LLM Brain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model: GPT-4, Claude, Gemini.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agent's thinking engine.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325880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1435608"/>
            <a:ext cx="566928" cy="5669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0024" y="1435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Give It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2039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tools: web search, database, email.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expands what the agent can 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24612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Add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remember past conversations.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vector databases (Pinecone, ChromaDB).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24612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42232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Set Safety Rules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boundaries. What should it NOT do?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a human review loop for risky tasks.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2784" y="3136392"/>
            <a:ext cx="2743200" cy="164592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2512" y="3246120"/>
            <a:ext cx="566928" cy="566928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50024" y="3246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Test &amp; Improve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82512" y="384962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scenarios. Catch mistakes early.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based on real-world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FRAMEWORKS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AI Agent Frameworks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LangChain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490472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00C896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904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Beginner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85623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framework. Easy to build agents with memory, tools, and chains.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1325880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50992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</a:rPr>
              <a:t>LangGraph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62672" y="1490472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D166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14904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Intermediate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50992" y="185623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agent workflows. Great for complex, multi-step agent logic.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8775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AutoGen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752344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D166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75234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Intermediate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11810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multi-agent framework. Agents converse with each other to solve problems.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587752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50992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CrewAI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62672" y="2752344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D166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275234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Intermediate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50992" y="311810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teams of AI agents. Each agent has a role, goal, and backstory.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849624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280160" y="39410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Semantic Kernel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291840" y="4014216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FF6B35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40142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Advanced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437997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enterprise-grade SDK for building production AI agent applications.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3849624"/>
            <a:ext cx="4114800" cy="111556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4032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650992" y="39410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AgentKit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662672" y="4014216"/>
            <a:ext cx="1115568" cy="256032"/>
          </a:xfrm>
          <a:prstGeom prst="roundRect">
            <a:avLst>
              <a:gd name="adj" fmla="val 21429"/>
            </a:avLst>
          </a:prstGeom>
          <a:solidFill>
            <a:srgbClr val="00C896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662672" y="40142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Beginner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50992" y="437997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Coinbase's framework for building crypto and web3 AI agents easily.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FUTURE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480560" y="1280160"/>
            <a:ext cx="54864" cy="3474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4315968" y="1389888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840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350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33502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Tool-using agents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Agents browse web, run code, read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25696" y="2276856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2167128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167128"/>
            <a:ext cx="38404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47488" y="2221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22219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Agentic workflows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Long-running multi-step autonomous pipelines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15968" y="3163824"/>
            <a:ext cx="219456" cy="21945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54096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54096"/>
            <a:ext cx="384048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2026–27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Physical AI Agents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Robots controlled by AI agents in the real world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25696" y="4050792"/>
            <a:ext cx="219456" cy="21945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3941064"/>
            <a:ext cx="3840480" cy="749808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941064"/>
            <a:ext cx="384048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39959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2028–30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99592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Society-scale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47488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Agents managing cities, supply chains, healthcare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475488"/>
          </a:xfrm>
          <a:prstGeom prst="rect">
            <a:avLst/>
          </a:prstGeom>
          <a:solidFill>
            <a:srgbClr val="1A3A6B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"Agents will do the work of a small company. Humans will manage agents, not tasks." — Sam Altman, CEO of OpenAI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15568" y="1435608"/>
            <a:ext cx="45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autonomous programs that perceive, think, and act to achieve goals — without step-by-step human instruction.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15568" y="2057400"/>
            <a:ext cx="457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19476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tools like web search, code execution, and APIs — combining them intelligently to solve complex, multi-step problems.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69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15568" y="2679192"/>
            <a:ext cx="45720" cy="3200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261872" y="25694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industry is adopting AI Agents — from finance to healthcare, retail to cybersecurity.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15568" y="3300984"/>
            <a:ext cx="4572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1261872" y="31912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 speed, accuracy, scalability, 24/7 availability, and cost savings — at a scale humans simply cannot match.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15568" y="3922776"/>
            <a:ext cx="457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261872" y="3813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remain: hallucinations, security, cost, and the need for human oversight and safety guardrails.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15568" y="4544568"/>
            <a:ext cx="45720" cy="3200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8" name="Text 26"/>
          <p:cNvSpPr/>
          <p:nvPr/>
        </p:nvSpPr>
        <p:spPr>
          <a:xfrm>
            <a:off x="1261872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market will reach $102B by 2028. Now is the time to learn, build, and leverage this technology.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0B4D8">
              <a:alpha val="2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058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of AI Agents is Here.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3977640"/>
            <a:ext cx="25603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🧠 Keep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AI news &amp; build small projects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397764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53872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🔧 Start Building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3872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LangChain or AutoGPT today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0" y="3977640"/>
            <a:ext cx="2560320" cy="1005840"/>
          </a:xfrm>
          <a:prstGeom prst="rect">
            <a:avLst/>
          </a:prstGeom>
          <a:solidFill>
            <a:srgbClr val="152A4E"/>
          </a:solidFill>
          <a:ln w="6350">
            <a:solidFill>
              <a:srgbClr val="1565C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977640"/>
            <a:ext cx="2560320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4"/>
          <p:cNvSpPr/>
          <p:nvPr/>
        </p:nvSpPr>
        <p:spPr>
          <a:xfrm>
            <a:off x="6327648" y="4041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🌐 Stay Updated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27648" y="44622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fast — never stop exploring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— The Future of Intelligent Automation</dc:title>
  <dc:subject>PptxGenJS Presentation</dc:subject>
  <dc:creator>AI Agents Presentation</dc:creator>
  <cp:lastModifiedBy>AI Agents Presentation</cp:lastModifiedBy>
  <cp:revision>1</cp:revision>
  <dcterms:created xsi:type="dcterms:W3CDTF">2026-06-07T17:07:27Z</dcterms:created>
  <dcterms:modified xsi:type="dcterms:W3CDTF">2026-06-07T17:07:27Z</dcterms:modified>
</cp:coreProperties>
</file>