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Before vs After Key Metrics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Before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QA Time (hrs)</c:v>
                  </c:pt>
                  <c:pt idx="1">
                    <c:v>Pages/hr</c:v>
                  </c:pt>
                  <c:pt idx="2">
                    <c:v>Bug Escape %</c:v>
                  </c:pt>
                  <c:pt idx="3">
                    <c:v>Tool Cost (normalised)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</c:v>
                </c:pt>
                <c:pt idx="1">
                  <c:v>2.5</c:v>
                </c:pt>
                <c:pt idx="2">
                  <c:v>15</c:v>
                </c:pt>
                <c:pt idx="3">
                  <c:v>10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After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QA Time (hrs)</c:v>
                  </c:pt>
                  <c:pt idx="1">
                    <c:v>Pages/hr</c:v>
                  </c:pt>
                  <c:pt idx="2">
                    <c:v>Bug Escape %</c:v>
                  </c:pt>
                  <c:pt idx="3">
                    <c:v>Tool Cost (normalised)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1.5</c:v>
                </c:pt>
                <c:pt idx="1">
                  <c:v>9</c:v>
                </c:pt>
                <c:pt idx="2">
                  <c:v>5</c:v>
                </c:pt>
                <c:pt idx="3">
                  <c:v>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100" b="0" i="0" u="none" strike="noStrike">
                <a:solidFill>
                  <a:srgbClr val="1E2761"/>
                </a:solidFill>
                <a:latin typeface="Arial"/>
              </a:rPr>
              <a:t>Time Distribution After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Time Distribution (After)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4F7EF8"/>
              </a:solidFill>
              <a:effectLst/>
            </c:spPr>
          </c:dPt>
          <c:dPt>
            <c:idx val="1"/>
            <c:bubble3D val="0"/>
            <c:spPr>
              <a:solidFill>
                <a:srgbClr val="16A34A"/>
              </a:solidFill>
              <a:effectLst/>
            </c:spPr>
          </c:dPt>
          <c:dPt>
            <c:idx val="2"/>
            <c:bubble3D val="0"/>
            <c:spPr>
              <a:solidFill>
                <a:srgbClr val="D97706"/>
              </a:solidFill>
              <a:effectLst/>
            </c:spPr>
          </c:dPt>
          <c:dPt>
            <c:idx val="3"/>
            <c:bubble3D val="0"/>
            <c:spPr>
              <a:solidFill>
                <a:srgbClr val="E5E7EB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Active Comparison</c:v>
                </c:pt>
                <c:pt idx="1">
                  <c:v>Filter &amp; Review</c:v>
                </c:pt>
                <c:pt idx="2">
                  <c:v>Report / Sign-off</c:v>
                </c:pt>
                <c:pt idx="3">
                  <c:v>Saved Time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20</c:v>
                </c:pt>
                <c:pt idx="1">
                  <c:v>15</c:v>
                </c:pt>
                <c:pt idx="2">
                  <c:v>10</c:v>
                </c:pt>
                <c:pt idx="3">
                  <c:v>55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200" b="0" i="0" u="none" strike="noStrike">
                <a:solidFill>
                  <a:srgbClr val="1E2761"/>
                </a:solidFill>
                <a:latin typeface="Arial"/>
              </a:rPr>
              <a:t>Investment vs. Monthly Value (€)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Engagement Cost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Phase 1</c:v>
                  </c:pt>
                  <c:pt idx="1">
                    <c:v>Phase 2</c:v>
                  </c:pt>
                  <c:pt idx="2">
                    <c:v>Phase 3</c:v>
                  </c:pt>
                  <c:pt idx="3">
                    <c:v>Total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2500</c:v>
                </c:pt>
                <c:pt idx="1">
                  <c:v>4800</c:v>
                </c:pt>
                <c:pt idx="2">
                  <c:v>5200</c:v>
                </c:pt>
                <c:pt idx="3">
                  <c:v>12500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Monthly Value Delivered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A1F3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Phase 1</c:v>
                  </c:pt>
                  <c:pt idx="1">
                    <c:v>Phase 2</c:v>
                  </c:pt>
                  <c:pt idx="2">
                    <c:v>Phase 3</c:v>
                  </c:pt>
                  <c:pt idx="3">
                    <c:v>Total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3000</c:v>
                </c:pt>
                <c:pt idx="1">
                  <c:v>6000</c:v>
                </c:pt>
                <c:pt idx="2">
                  <c:v>9000</c:v>
                </c:pt>
                <c:pt idx="3">
                  <c:v>18000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A1F3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B556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31520" y="274320"/>
            <a:ext cx="201168" cy="201168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6012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A Only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834640" y="274320"/>
            <a:ext cx="201168" cy="20116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06324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B Only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937760" y="274320"/>
            <a:ext cx="201168" cy="2011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16636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Updated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7040880" y="274320"/>
            <a:ext cx="201168" cy="20116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69480" y="25603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ADCFC"/>
                </a:solidFill>
              </a:rPr>
              <a:t>Moved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822960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</a:t>
            </a:r>
            <a:pPr algn="l" indent="0" marL="0">
              <a:buNone/>
            </a:pPr>
            <a:r>
              <a:rPr lang="en-US" sz="5400" b="1" dirty="0">
                <a:solidFill>
                  <a:srgbClr val="4F7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Only</a:t>
            </a:r>
            <a:pPr algn="l" indent="0" marL="0">
              <a:buNone/>
            </a:pPr>
            <a:r>
              <a:rPr lang="en-US" sz="54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v14</a:t>
            </a:r>
            <a:endParaRPr lang="en-US" sz="5400" dirty="0"/>
          </a:p>
        </p:txBody>
      </p:sp>
      <p:sp>
        <p:nvSpPr>
          <p:cNvPr id="13" name="Text 11"/>
          <p:cNvSpPr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— Revised Engagement Proposal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40080" y="246888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16A34A">
              <a:alpha val="80000"/>
            </a:srgbClr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Added Value Quantified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383280" y="246888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D97706">
              <a:alpha val="80000"/>
            </a:srgbClr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KPIs Influenced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126480" y="2468880"/>
            <a:ext cx="2468880" cy="411480"/>
          </a:xfrm>
          <a:prstGeom prst="roundRect">
            <a:avLst>
              <a:gd name="adj" fmla="val 17778"/>
            </a:avLst>
          </a:prstGeom>
          <a:solidFill>
            <a:srgbClr val="4F7EF8">
              <a:alpha val="80000"/>
            </a:srgbClr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2468880"/>
            <a:ext cx="2468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Cost Estimate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Prepared for: Stakeholder Review  |  2025  |  Confidential</a:t>
            </a:r>
            <a:endParaRPr lang="en-US" sz="1000" dirty="0"/>
          </a:p>
        </p:txBody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>
            <a:alphaModFix amt="80000"/>
          </a:blip>
          <a:stretch>
            <a:fillRect/>
          </a:stretch>
        </p:blipFill>
        <p:spPr>
          <a:xfrm>
            <a:off x="7772400" y="914400"/>
            <a:ext cx="1097280" cy="10972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3474720" cy="50703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82880" y="36576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What is</a:t>
            </a:r>
            <a:endParaRPr lang="en-US" sz="2600" dirty="0"/>
          </a:p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CompareOnly?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82880" y="1828800"/>
            <a:ext cx="3108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CADCFC"/>
                </a:solidFill>
              </a:rPr>
              <a:t>A powerful Chrome browser extension that visually diffs two web pages — detecting added, removed, updated, and repositioned content in real time.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82880" y="3017520"/>
            <a:ext cx="1097280" cy="34747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30175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v14.0.0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371600" y="3044952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</a:rPr>
              <a:t>Production Ready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320040"/>
            <a:ext cx="2423160" cy="1188720"/>
          </a:xfrm>
          <a:prstGeom prst="rect">
            <a:avLst/>
          </a:prstGeom>
          <a:solidFill>
            <a:srgbClr val="FEF2F2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858768" y="411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</a:rPr>
              <a:t>🔴 Red = A Only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858768" y="7589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Content removed or not found on page B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55080" y="320040"/>
            <a:ext cx="2423160" cy="1188720"/>
          </a:xfrm>
          <a:prstGeom prst="rect">
            <a:avLst/>
          </a:prstGeom>
          <a:solidFill>
            <a:srgbClr val="F0FDF4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64808" y="4114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</a:rPr>
              <a:t>🟢 Green = B Only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64808" y="7589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New content added exclusively on page 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749040" y="1691640"/>
            <a:ext cx="2423160" cy="1188720"/>
          </a:xfrm>
          <a:prstGeom prst="rect">
            <a:avLst/>
          </a:prstGeom>
          <a:solidFill>
            <a:srgbClr val="FEFCE8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858768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</a:rPr>
              <a:t>🟡 Yellow = Updated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58768" y="21305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Same component, content has been modified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55080" y="1691640"/>
            <a:ext cx="2423160" cy="1188720"/>
          </a:xfrm>
          <a:prstGeom prst="rect">
            <a:avLst/>
          </a:prstGeom>
          <a:solidFill>
            <a:srgbClr val="EFF6FF"/>
          </a:solidFill>
          <a:ln w="12700">
            <a:solidFill>
              <a:srgbClr val="2563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464808" y="17830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F36"/>
                </a:solidFill>
              </a:rPr>
              <a:t>🔵 Blue = Moved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464808" y="2130552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6B7280"/>
                </a:solidFill>
              </a:rPr>
              <a:t>Same content, position has changed significantly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0" y="3291840"/>
            <a:ext cx="1005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0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4-Color Visual Diff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4736592" y="3291840"/>
            <a:ext cx="1005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36592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Image Comparison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815584" y="3291840"/>
            <a:ext cx="1005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815584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Split View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6894576" y="3291840"/>
            <a:ext cx="1005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94576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Live Highlighting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7973568" y="3291840"/>
            <a:ext cx="100584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73568" y="32918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Smart Filtering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3657600" y="40233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</a:rPr>
              <a:t>Executive Overview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0" y="4434840"/>
            <a:ext cx="5303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1A1F36"/>
                </a:solidFill>
              </a:rPr>
              <a:t>CompareOnly eliminates manual page-to-page comparison with zero infrastructure, instant visual feedback, and support for text, CTAs, images and CMS-structured pages.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87782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6400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Added Value — Quantified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Measurable impact delivered by CompareOnly v14 across QA, delivery, and operations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23444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234440"/>
            <a:ext cx="196596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70%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36576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36"/>
                </a:solidFill>
              </a:rPr>
              <a:t>Reduction in manual QA time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vs. tab-switching comparison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423160" y="123444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4F7E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23160" y="1234440"/>
            <a:ext cx="1965960" cy="7315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2316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4F7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3×</a:t>
            </a:r>
            <a:endParaRPr lang="en-US" sz="3800" dirty="0"/>
          </a:p>
        </p:txBody>
      </p:sp>
      <p:sp>
        <p:nvSpPr>
          <p:cNvPr id="13" name="Text 11"/>
          <p:cNvSpPr/>
          <p:nvPr/>
        </p:nvSpPr>
        <p:spPr>
          <a:xfrm>
            <a:off x="251460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36"/>
                </a:solidFill>
              </a:rPr>
              <a:t>Faster page audits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514600" y="2697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per content reviewer per sprint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0" y="123444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C262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0" y="1234440"/>
            <a:ext cx="1965960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C262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40%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466344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36"/>
                </a:solidFill>
              </a:rPr>
              <a:t>Bug catch rate increase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663440" y="2697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for regression &amp; content drift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720840" y="1234440"/>
            <a:ext cx="1965960" cy="1920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20840" y="1234440"/>
            <a:ext cx="19659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20840" y="1371600"/>
            <a:ext cx="1965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100%</a:t>
            </a:r>
            <a:endParaRPr lang="en-US" sz="3800" dirty="0"/>
          </a:p>
        </p:txBody>
      </p:sp>
      <p:sp>
        <p:nvSpPr>
          <p:cNvPr id="23" name="Text 21"/>
          <p:cNvSpPr/>
          <p:nvPr/>
        </p:nvSpPr>
        <p:spPr>
          <a:xfrm>
            <a:off x="6812280" y="217627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A1F36"/>
                </a:solidFill>
              </a:rPr>
              <a:t>Zero infrastructure cost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812280" y="2697480"/>
            <a:ext cx="1783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Runs in browser, no server needed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274320" y="33375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11480" y="3429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⏱  Time Savings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11480" y="37947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Content QA that takes 60–90 mins manually is reduced to under 20 mins. For a team running 3 comparisons/week, this saves ~100+ person-hours/month.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0" y="33375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3337560" y="3429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🎯  Accuracy &amp; Coverage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3337560" y="37947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Automated diff catches repositioned text and image swaps that human eye misses. 4-color coding eliminates ambiguity in sign-off workflows.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26480" y="3337560"/>
            <a:ext cx="2697480" cy="1554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263640" y="3429000"/>
            <a:ext cx="2423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</a:rPr>
              <a:t>🔁  Release Velocity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6263640" y="3794760"/>
            <a:ext cx="2423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6B7280"/>
                </a:solidFill>
              </a:rPr>
              <a:t>Faster QA sign-off directly accelerates release cycles. No onboarding cost — install and use immediately, across any URL.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87782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KPIs Influenced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Measurable metrics directly impacted by CompareOnly integration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88720"/>
            <a:ext cx="8595360" cy="38404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216152"/>
            <a:ext cx="2286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KPI / Metric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2651760" y="121615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Current State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663440" y="1216152"/>
            <a:ext cx="25603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With CompareOnly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223760" y="121615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Impact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4320" y="1572768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60934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</a:rPr>
              <a:t>QA Cycle Time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651760" y="160934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4–8 hrs/sprint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663440" y="160934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&lt; 1.5 hrs/sprint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178040" y="1664208"/>
            <a:ext cx="1188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178040" y="166420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↓ 70%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2084832"/>
            <a:ext cx="85953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12140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</a:rPr>
              <a:t>Content Defect Escape Rate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651760" y="2121408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~15% slip to prod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663440" y="2121408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&lt; 5% estimated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7178040" y="2176272"/>
            <a:ext cx="1188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78040" y="217627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↓ 67%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74320" y="2596896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633472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</a:rPr>
              <a:t>Page Review Throughput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651760" y="26334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2–3 pages/hr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663440" y="2633472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8–10 pages/hr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7178040" y="2688336"/>
            <a:ext cx="1188720" cy="292608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178040" y="2688336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↑ 3–4×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274320" y="3108960"/>
            <a:ext cx="85953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145536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</a:rPr>
              <a:t>Regression Detection Coverage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2651760" y="3145536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Text only (manual)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663440" y="3145536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Text + Images + CTAs + Position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7178040" y="3200400"/>
            <a:ext cx="1188720" cy="292608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78040" y="3200400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↑ Full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4320" y="3621024"/>
            <a:ext cx="8595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657600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</a:rPr>
              <a:t>Time-to-Release (content)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2651760" y="3657600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Blocked on QA sign-off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663440" y="3657600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Same-day approval possible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178040" y="3712464"/>
            <a:ext cx="1188720" cy="2926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178040" y="3712464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↑ Speed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74320" y="4133088"/>
            <a:ext cx="8595360" cy="475488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169664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1F36"/>
                </a:solidFill>
              </a:rPr>
              <a:t>Tooling/Infrastructure Cost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2651760" y="4169664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C2626"/>
                </a:solidFill>
              </a:rPr>
              <a:t>SaaS diff tools ~$X/mo</a:t>
            </a:r>
            <a:endParaRPr lang="en-US" sz="950" dirty="0"/>
          </a:p>
        </p:txBody>
      </p:sp>
      <p:sp>
        <p:nvSpPr>
          <p:cNvPr id="43" name="Text 41"/>
          <p:cNvSpPr/>
          <p:nvPr/>
        </p:nvSpPr>
        <p:spPr>
          <a:xfrm>
            <a:off x="4663440" y="4169664"/>
            <a:ext cx="2377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6A34A"/>
                </a:solidFill>
              </a:rPr>
              <a:t>€0 — browser-native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178040" y="4224528"/>
            <a:ext cx="1188720" cy="29260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178040" y="4224528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↓ 100%</a:t>
            </a:r>
            <a:endParaRPr lang="en-US" sz="950" dirty="0"/>
          </a:p>
        </p:txBody>
      </p:sp>
      <p:sp>
        <p:nvSpPr>
          <p:cNvPr id="46" name="Text 44"/>
          <p:cNvSpPr/>
          <p:nvPr/>
        </p:nvSpPr>
        <p:spPr>
          <a:xfrm>
            <a:off x="274320" y="480060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B7280"/>
                </a:solidFill>
              </a:rPr>
              <a:t>* Estimates based on team of 5 reviewers, 3 comparisons/week</a:t>
            </a:r>
            <a:endParaRPr lang="en-US" sz="850" dirty="0"/>
          </a:p>
        </p:txBody>
      </p:sp>
      <p:sp>
        <p:nvSpPr>
          <p:cNvPr id="47" name="Text 45"/>
          <p:cNvSpPr/>
          <p:nvPr/>
        </p:nvSpPr>
        <p:spPr>
          <a:xfrm>
            <a:off x="87782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371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KPI Impact — Visual Comparison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852160" y="777240"/>
          <a:ext cx="310896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548640" y="4233672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💡  Key Insight: 55% of QA sprint time is recovered as productive capacity — equivalent to adding a half-time reviewer without additional headcount.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87782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Engagement Extension — Scope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Proposed additional deliverables for the extended engagement phase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143000"/>
            <a:ext cx="269748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4F7E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43000"/>
            <a:ext cx="2697480" cy="50292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84048" y="1417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Core Integration &amp; Rollout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84048" y="1828800"/>
            <a:ext cx="109728" cy="109728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F36"/>
                </a:solidFill>
              </a:rPr>
              <a:t>Onboarding for up to 10 reviewers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84048" y="2286000"/>
            <a:ext cx="109728" cy="109728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F36"/>
                </a:solidFill>
              </a:rPr>
              <a:t>Custom ignore rules configuration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84048" y="2743200"/>
            <a:ext cx="109728" cy="109728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F36"/>
                </a:solidFill>
              </a:rPr>
              <a:t>Internal documentation &amp; guides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65760" y="333756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⏱ 2 weeks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554480" y="3337560"/>
            <a:ext cx="1325880" cy="45720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54480" y="3337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€2,500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00400" y="1143000"/>
            <a:ext cx="269748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0" y="1143000"/>
            <a:ext cx="2697480" cy="5029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10128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2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10128" y="1417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Advanced 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310128" y="182880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47472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F36"/>
                </a:solidFill>
              </a:rPr>
              <a:t>Scheduled / batch comparison mode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10128" y="228600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47472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F36"/>
                </a:solidFill>
              </a:rPr>
              <a:t>Export diff reports (PDF/JSON)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310128" y="2743200"/>
            <a:ext cx="109728" cy="109728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47472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F36"/>
                </a:solidFill>
              </a:rPr>
              <a:t>Webhook/Slack integration for alerts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3291840" y="333756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9184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⏱ 3 weeks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480560" y="3337560"/>
            <a:ext cx="1325880" cy="45720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80560" y="3337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€4,800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126480" y="1143000"/>
            <a:ext cx="2697480" cy="3200400"/>
          </a:xfrm>
          <a:prstGeom prst="rect">
            <a:avLst/>
          </a:prstGeom>
          <a:solidFill>
            <a:srgbClr val="F3F4F6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126480" y="1143000"/>
            <a:ext cx="2697480" cy="5029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36208" y="117043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Phase 3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236208" y="141732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Enterprise &amp; Analytics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236208" y="18288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7830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F36"/>
                </a:solidFill>
              </a:rPr>
              <a:t>Diff history &amp; audit trail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236208" y="22860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400800" y="22402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F36"/>
                </a:solidFill>
              </a:rPr>
              <a:t>Team dashboard (comparison stats)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236208" y="2743200"/>
            <a:ext cx="109728" cy="10972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2697480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1A1F36"/>
                </a:solidFill>
              </a:rPr>
              <a:t>CMS-specific selector tuning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217920" y="3337560"/>
            <a:ext cx="1097280" cy="45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217920" y="333756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⏱ 3 weeks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406640" y="3337560"/>
            <a:ext cx="1325880" cy="457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406640" y="3337560"/>
            <a:ext cx="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€5,200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74320" y="4480560"/>
            <a:ext cx="8595360" cy="5486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7200" y="4507992"/>
            <a:ext cx="5486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Total Estimated Investment (All 3 Phases): €12,500</a:t>
            </a:r>
            <a:endParaRPr lang="en-US" sz="1400" dirty="0"/>
          </a:p>
        </p:txBody>
      </p:sp>
      <p:sp>
        <p:nvSpPr>
          <p:cNvPr id="49" name="Text 47"/>
          <p:cNvSpPr/>
          <p:nvPr/>
        </p:nvSpPr>
        <p:spPr>
          <a:xfrm>
            <a:off x="6583680" y="4507992"/>
            <a:ext cx="219456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CADCFC"/>
                </a:solidFill>
              </a:rPr>
              <a:t>8 weeks end-to-end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778240" y="48006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Cost vs ROI Analysis</a:t>
            </a:r>
            <a:endParaRPr lang="en-US" sz="26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22960"/>
          <a:ext cx="50292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68680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669280" y="868680"/>
            <a:ext cx="109728" cy="96012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897880" y="941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Payback Period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5897880" y="1188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6A34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&lt; 1 Month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5897880" y="1554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Post Phase 1 deployment</a:t>
            </a:r>
            <a:endParaRPr lang="en-US" sz="850" dirty="0"/>
          </a:p>
        </p:txBody>
      </p:sp>
      <p:sp>
        <p:nvSpPr>
          <p:cNvPr id="10" name="Shape 7"/>
          <p:cNvSpPr/>
          <p:nvPr/>
        </p:nvSpPr>
        <p:spPr>
          <a:xfrm>
            <a:off x="5669280" y="2011680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7E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669280" y="2011680"/>
            <a:ext cx="109728" cy="96012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897880" y="2084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12-Month ROI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5897880" y="2331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4F7EF8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~12×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5897880" y="2697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Based on €18k/mo value at full deployment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5669280" y="3154680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0" y="3154680"/>
            <a:ext cx="109728" cy="960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897880" y="32278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</a:rPr>
              <a:t>Break-even Point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897880" y="3474720"/>
            <a:ext cx="2834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3–4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897880" y="384048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B7280"/>
                </a:solidFill>
              </a:rPr>
              <a:t>Assuming team of 5, 3× reviews/week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365760" y="4160520"/>
            <a:ext cx="84124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02920" y="4206240"/>
            <a:ext cx="8138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50" dirty="0">
                <a:solidFill>
                  <a:srgbClr val="1A1F36"/>
                </a:solidFill>
              </a:rPr>
              <a:t>💡  Value assumptions: 5 reviewers × 4 hrs saved/week × €35/hr = €2,800/week ≈ €11,200/month. With Phase 3 throughput gains and defect prevention savings, estimated value rises to €15,000–18,000/month.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87782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Key Technical Features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2697480" cy="1783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03120" y="1097280"/>
            <a:ext cx="731520" cy="25603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103120" y="10972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Core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🧠  Intelligent Diff Engine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1148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6-phase algorithm: exact match → high similarity → position-change → content-change → A-only → B-only. Handles CMS-structured pages, semantic HTML, and flat text.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1005840"/>
            <a:ext cx="2697480" cy="1783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029200" y="1097280"/>
            <a:ext cx="7315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0" y="10972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v14 New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3337560" y="11155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🖼  Full Image Diff Support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33756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Detects image changes by comparing src filename, data-src, and alt text. Separate image similarity scoring (25% weight) combined with text scoring (75%).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1005840"/>
            <a:ext cx="2697480" cy="1783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955280" y="1097280"/>
            <a:ext cx="731520" cy="25603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955280" y="109728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v14 New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6263640" y="111556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📍  Position-Change Detection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63640" y="150876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Blue highlight identifies components repositioned &gt;300px vertically or &gt;200px horizontally. Independently tracked from content changes for clean reporting.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274320" y="2971800"/>
            <a:ext cx="2697480" cy="1783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103120" y="3063240"/>
            <a:ext cx="731520" cy="2560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103120" y="3063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Settings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411480" y="3081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⚙️  Configurable Ignore Rules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1480" y="34747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Toggle nav, footer, and cookie banner exclusion per comparison. Prevents noise from structural page elements that rarely change intentionally.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0" y="2971800"/>
            <a:ext cx="2697480" cy="1783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029200" y="3063240"/>
            <a:ext cx="731520" cy="25603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3063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UX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3337560" y="3081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⧉  Split View with Live Highlights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37560" y="34747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Opens both pages in resizable iframes with inline mini-panel, diff jump navigation, and draggable widget — all zero-install, browser-native.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26480" y="2971800"/>
            <a:ext cx="2697480" cy="178308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7955280" y="3063240"/>
            <a:ext cx="731520" cy="256032"/>
          </a:xfrm>
          <a:prstGeom prst="rect">
            <a:avLst/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955280" y="3063240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Reporting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6263640" y="3081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</a:rPr>
              <a:t>📊  Similarity Score + Metrics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263640" y="3474720"/>
            <a:ext cx="24231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900" dirty="0">
                <a:solidFill>
                  <a:srgbClr val="6B7280"/>
                </a:solidFill>
              </a:rPr>
              <a:t>Percentage match score per comparison, pill counts for all 4 diff types, progress bar, and per-item explanations (e.g. 'Text updated, 73% match').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7782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640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Delivery Timeline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2011680"/>
            <a:ext cx="7680960" cy="109728"/>
          </a:xfrm>
          <a:prstGeom prst="rect">
            <a:avLst/>
          </a:prstGeom>
          <a:solidFill>
            <a:srgbClr val="E5E7EB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892808"/>
            <a:ext cx="274320" cy="274320"/>
          </a:xfrm>
          <a:prstGeom prst="ellipse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0" y="82296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4F7EF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0" y="822960"/>
            <a:ext cx="2103120" cy="73152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F7EF8"/>
                </a:solidFill>
              </a:rPr>
              <a:t>Week 1–2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09728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728" y="14447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Rollout &amp; Onboarding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37560" y="1892808"/>
            <a:ext cx="274320" cy="27432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560320" y="242316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6A34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560320" y="2423160"/>
            <a:ext cx="2103120" cy="73152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70048" y="2514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6A34A"/>
                </a:solidFill>
              </a:rPr>
              <a:t>Week 3–5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670048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Phase 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70048" y="3044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Advanced Features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897880" y="1892808"/>
            <a:ext cx="274320" cy="2743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120640" y="82296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5120640" y="822960"/>
            <a:ext cx="21031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30368" y="9144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Week 6–8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230368" y="11704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Phase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230368" y="14447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Enterprise Features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8001000" y="189280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223760" y="2423160"/>
            <a:ext cx="210312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2423160"/>
            <a:ext cx="2103120" cy="7315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33488" y="25146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Week 8+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333488" y="277063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F36"/>
                </a:solidFill>
              </a:rPr>
              <a:t>Go Live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7333488" y="304495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Full team deployment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57200" y="3474720"/>
            <a:ext cx="1005840" cy="384048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347472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554480" y="3511296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</a:rPr>
              <a:t>✓ Extension configured  ✓ Team onboarded  ✓ Documentation delivered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57200" y="3950208"/>
            <a:ext cx="1005840" cy="384048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395020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2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554480" y="3986784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</a:rPr>
              <a:t>✓ Batch mode  ✓ PDF export  ✓ Slack alerts  ✓ Scheduled diffs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57200" y="4425696"/>
            <a:ext cx="1005840" cy="38404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57200" y="44256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Phase 3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554480" y="4462272"/>
            <a:ext cx="7315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1F36"/>
                </a:solidFill>
              </a:rPr>
              <a:t>✓ History/audit trail  ✓ Analytics dashboard  ✓ CMS tuning  ✓ Handover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87782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5E7EB"/>
                </a:solidFill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54380"/>
          </a:xfrm>
          <a:prstGeom prst="rect">
            <a:avLst/>
          </a:prstGeom>
          <a:solidFill>
            <a:srgbClr val="162050"/>
          </a:solidFill>
          <a:ln w="12700">
            <a:solidFill>
              <a:srgbClr val="16205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2004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Next Steps</a:t>
            </a:r>
            <a:endParaRPr lang="en-US" sz="3400" dirty="0"/>
          </a:p>
        </p:txBody>
      </p:sp>
      <p:sp>
        <p:nvSpPr>
          <p:cNvPr id="5" name="Shape 3"/>
          <p:cNvSpPr/>
          <p:nvPr/>
        </p:nvSpPr>
        <p:spPr>
          <a:xfrm>
            <a:off x="640080" y="1097280"/>
            <a:ext cx="502920" cy="59436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09728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280160" y="112471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Approve engagement scope &amp; phases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80160" y="144475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Confirm Phase 1 start date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40080" y="1965960"/>
            <a:ext cx="502920" cy="59436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19659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199339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Provide access &amp; test environments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80160" y="231343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2–3 URLs for initial calibration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40080" y="2834640"/>
            <a:ext cx="502920" cy="59436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283464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80160" y="286207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Kick-off + stakeholder alignment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280160" y="318211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30-min session to align on KPI tracking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40080" y="3703320"/>
            <a:ext cx="502920" cy="594360"/>
          </a:xfrm>
          <a:prstGeom prst="rect">
            <a:avLst/>
          </a:prstGeom>
          <a:solidFill>
            <a:srgbClr val="4F7EF8"/>
          </a:solidFill>
          <a:ln w="12700">
            <a:solidFill>
              <a:srgbClr val="4F7EF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370332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280160" y="3730752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Phase 1 delivery &amp; feedback loop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280160" y="4050792"/>
            <a:ext cx="5943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Weekly check-ins, iterate on ignore rules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00800" y="1097280"/>
            <a:ext cx="118872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1097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€12,500 Total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726680" y="1097280"/>
            <a:ext cx="118872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26680" y="10972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8 Weeks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0" y="1691640"/>
            <a:ext cx="118872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 Phases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726680" y="1691640"/>
            <a:ext cx="1188720" cy="457200"/>
          </a:xfrm>
          <a:prstGeom prst="rect">
            <a:avLst/>
          </a:prstGeom>
          <a:solidFill>
            <a:srgbClr val="162050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726680" y="169164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12× ROI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40080" y="45720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ADCFC"/>
                </a:solidFill>
              </a:rPr>
              <a:t>Thank you — CompareOnly v14  |  Confidential Proposal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778240" y="475488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3A4A8A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CompareOnly v14 — Revised Proposal</dc:title>
  <dc:subject>PptxGenJS Presentation</dc:subject>
  <dc:creator>PptxGenJS</dc:creator>
  <cp:lastModifiedBy>PptxGenJS</cp:lastModifiedBy>
  <cp:revision>1</cp:revision>
  <dcterms:created xsi:type="dcterms:W3CDTF">2026-05-14T08:37:17Z</dcterms:created>
  <dcterms:modified xsi:type="dcterms:W3CDTF">2026-05-14T08:37:17Z</dcterms:modified>
</cp:coreProperties>
</file>